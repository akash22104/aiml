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Cost vs. Parameter Value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-10</c:v>
                  </c:pt>
                  <c:pt idx="1">
                    <c:v>-9</c:v>
                  </c:pt>
                  <c:pt idx="2">
                    <c:v>-8</c:v>
                  </c:pt>
                  <c:pt idx="3">
                    <c:v>-7</c:v>
                  </c:pt>
                  <c:pt idx="4">
                    <c:v>-6</c:v>
                  </c:pt>
                  <c:pt idx="5">
                    <c:v>-5</c:v>
                  </c:pt>
                  <c:pt idx="6">
                    <c:v>-4</c:v>
                  </c:pt>
                  <c:pt idx="7">
                    <c:v>-3</c:v>
                  </c:pt>
                  <c:pt idx="8">
                    <c:v>-2</c:v>
                  </c:pt>
                  <c:pt idx="9">
                    <c:v>-1</c:v>
                  </c:pt>
                  <c:pt idx="10">
                    <c:v>0</c:v>
                  </c:pt>
                  <c:pt idx="11">
                    <c:v>1</c:v>
                  </c:pt>
                  <c:pt idx="12">
                    <c:v>2</c:v>
                  </c:pt>
                  <c:pt idx="13">
                    <c:v>3</c:v>
                  </c:pt>
                  <c:pt idx="14">
                    <c:v>4</c:v>
                  </c:pt>
                  <c:pt idx="15">
                    <c:v>5</c:v>
                  </c:pt>
                  <c:pt idx="16">
                    <c:v>6</c:v>
                  </c:pt>
                  <c:pt idx="17">
                    <c:v>7</c:v>
                  </c:pt>
                  <c:pt idx="18">
                    <c:v>8</c:v>
                  </c:pt>
                  <c:pt idx="19">
                    <c:v>9</c:v>
                  </c:pt>
                  <c:pt idx="20">
                    <c:v>10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4.2</c:v>
                </c:pt>
                <c:pt idx="1">
                  <c:v>3.44</c:v>
                </c:pt>
                <c:pt idx="2">
                  <c:v>2.7600000000000002</c:v>
                </c:pt>
                <c:pt idx="3">
                  <c:v>2.16</c:v>
                </c:pt>
                <c:pt idx="4">
                  <c:v>1.64</c:v>
                </c:pt>
                <c:pt idx="5">
                  <c:v>1.2</c:v>
                </c:pt>
                <c:pt idx="6">
                  <c:v>0.8400000000000001</c:v>
                </c:pt>
                <c:pt idx="7">
                  <c:v>0.56</c:v>
                </c:pt>
                <c:pt idx="8">
                  <c:v>0.36</c:v>
                </c:pt>
                <c:pt idx="9">
                  <c:v>0.24000000000000002</c:v>
                </c:pt>
                <c:pt idx="10">
                  <c:v>0.2</c:v>
                </c:pt>
                <c:pt idx="11">
                  <c:v>0.24000000000000002</c:v>
                </c:pt>
                <c:pt idx="12">
                  <c:v>0.36</c:v>
                </c:pt>
                <c:pt idx="13">
                  <c:v>0.56</c:v>
                </c:pt>
                <c:pt idx="14">
                  <c:v>0.8400000000000001</c:v>
                </c:pt>
                <c:pt idx="15">
                  <c:v>1.2</c:v>
                </c:pt>
                <c:pt idx="16">
                  <c:v>1.64</c:v>
                </c:pt>
                <c:pt idx="17">
                  <c:v>2.16</c:v>
                </c:pt>
                <c:pt idx="18">
                  <c:v>2.7600000000000002</c:v>
                </c:pt>
                <c:pt idx="19">
                  <c:v>3.44</c:v>
                </c:pt>
                <c:pt idx="20">
                  <c:v>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8FB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J(θ)</c:v>
                </c:pt>
              </c:strCache>
            </c:strRef>
          </c:tx>
          <c:spPr>
            <a:solidFill>
              <a:srgbClr val="CADCFC"/>
            </a:solidFill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3</c:v>
                </c:pt>
                <c:pt idx="1">
                  <c:v>3.705</c:v>
                </c:pt>
                <c:pt idx="2">
                  <c:v>4.32</c:v>
                </c:pt>
                <c:pt idx="3">
                  <c:v>4.845</c:v>
                </c:pt>
                <c:pt idx="4">
                  <c:v>5.279999999999999</c:v>
                </c:pt>
                <c:pt idx="5">
                  <c:v>5.625</c:v>
                </c:pt>
                <c:pt idx="6">
                  <c:v>5.88</c:v>
                </c:pt>
                <c:pt idx="7">
                  <c:v>6.045</c:v>
                </c:pt>
                <c:pt idx="8">
                  <c:v>6.12</c:v>
                </c:pt>
                <c:pt idx="9">
                  <c:v>6.105</c:v>
                </c:pt>
                <c:pt idx="10">
                  <c:v>6</c:v>
                </c:pt>
                <c:pt idx="11">
                  <c:v>5.805</c:v>
                </c:pt>
                <c:pt idx="12">
                  <c:v>5.5200000000000005</c:v>
                </c:pt>
                <c:pt idx="13">
                  <c:v>5.145</c:v>
                </c:pt>
                <c:pt idx="14">
                  <c:v>4.680000000000001</c:v>
                </c:pt>
                <c:pt idx="15">
                  <c:v>4.125</c:v>
                </c:pt>
                <c:pt idx="16">
                  <c:v>3.48</c:v>
                </c:pt>
                <c:pt idx="17">
                  <c:v>2.745</c:v>
                </c:pt>
                <c:pt idx="18">
                  <c:v>1.9200000000000002</c:v>
                </c:pt>
                <c:pt idx="19">
                  <c:v>1.0050000000000006</c:v>
                </c:pt>
                <c:pt idx="20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9.2</c:v>
                </c:pt>
                <c:pt idx="2">
                  <c:v>8.5</c:v>
                </c:pt>
                <c:pt idx="3">
                  <c:v>7.9</c:v>
                </c:pt>
                <c:pt idx="4">
                  <c:v>7.4</c:v>
                </c:pt>
                <c:pt idx="5">
                  <c:v>7</c:v>
                </c:pt>
                <c:pt idx="6">
                  <c:v>6.7</c:v>
                </c:pt>
                <c:pt idx="7">
                  <c:v>6.45</c:v>
                </c:pt>
                <c:pt idx="8">
                  <c:v>6.25</c:v>
                </c:pt>
                <c:pt idx="9">
                  <c:v>6.1</c:v>
                </c:pt>
                <c:pt idx="10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3</c:v>
                </c:pt>
                <c:pt idx="2">
                  <c:v>9</c:v>
                </c:pt>
                <c:pt idx="3">
                  <c:v>2</c:v>
                </c:pt>
                <c:pt idx="4">
                  <c:v>11</c:v>
                </c:pt>
                <c:pt idx="5">
                  <c:v>1.5</c:v>
                </c:pt>
                <c:pt idx="6">
                  <c:v>13</c:v>
                </c:pt>
                <c:pt idx="7">
                  <c:v>1</c:v>
                </c:pt>
                <c:pt idx="8">
                  <c:v>15</c:v>
                </c:pt>
                <c:pt idx="9">
                  <c:v>0.8</c:v>
                </c:pt>
                <c:pt idx="10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7</c:v>
                </c:pt>
                <c:pt idx="2">
                  <c:v>5</c:v>
                </c:pt>
                <c:pt idx="3">
                  <c:v>3.2</c:v>
                </c:pt>
                <c:pt idx="4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6</c:v>
                </c:pt>
                <c:pt idx="2">
                  <c:v>7.5</c:v>
                </c:pt>
                <c:pt idx="3">
                  <c:v>4</c:v>
                </c:pt>
                <c:pt idx="4">
                  <c:v>5.5</c:v>
                </c:pt>
                <c:pt idx="5">
                  <c:v>2.5</c:v>
                </c:pt>
                <c:pt idx="6">
                  <c:v>3.5</c:v>
                </c:pt>
                <c:pt idx="7">
                  <c:v>1.5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</c:v>
                </c:pt>
              </c:strCache>
            </c:strRef>
          </c:tx>
          <c:spPr>
            <a:solidFill>
              <a:srgbClr val="21295C"/>
            </a:solidFill>
            <a:ln w="31750" cap="flat">
              <a:solidFill>
                <a:srgbClr val="2129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6.5</c:v>
                </c:pt>
                <c:pt idx="2">
                  <c:v>5.2</c:v>
                </c:pt>
                <c:pt idx="3">
                  <c:v>3.5</c:v>
                </c:pt>
                <c:pt idx="4">
                  <c:v>2.8</c:v>
                </c:pt>
                <c:pt idx="5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</c:v>
                </c:pt>
              </c:strCache>
            </c:strRef>
          </c:tx>
          <c:spPr>
            <a:solidFill>
              <a:srgbClr val="CADCFC"/>
            </a:solidFill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</c:v>
                </c:pt>
                <c:pt idx="1">
                  <c:v>5.2</c:v>
                </c:pt>
                <c:pt idx="2">
                  <c:v>3.6</c:v>
                </c:pt>
                <c:pt idx="3">
                  <c:v>4.5</c:v>
                </c:pt>
                <c:pt idx="4">
                  <c:v>6</c:v>
                </c:pt>
                <c:pt idx="5">
                  <c:v>4.2</c:v>
                </c:pt>
                <c:pt idx="6">
                  <c:v>2.3</c:v>
                </c:pt>
                <c:pt idx="7">
                  <c:v>1</c:v>
                </c:pt>
                <c:pt idx="8">
                  <c:v>2.6</c:v>
                </c:pt>
                <c:pt idx="9">
                  <c:v>4.8</c:v>
                </c:pt>
                <c:pt idx="10">
                  <c:v>6.5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points</c:v>
                </c:pt>
              </c:strCache>
            </c:strRef>
          </c:tx>
          <c:spPr>
            <a:solidFill>
              <a:srgbClr val="065A82"/>
            </a:solidFill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</c:v>
                </c:pt>
                <c:pt idx="1">
                  <c:v>3.9</c:v>
                </c:pt>
                <c:pt idx="2">
                  <c:v>6.1</c:v>
                </c:pt>
                <c:pt idx="3">
                  <c:v>7.8</c:v>
                </c:pt>
                <c:pt idx="4">
                  <c:v>10.2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Initial fit</c:v>
                </c:pt>
              </c:strCache>
            </c:strRef>
          </c:tx>
          <c:spPr>
            <a:solidFill>
              <a:srgbClr val="B9C4CC"/>
            </a:solidFill>
            <a:ln w="25400" cap="flat">
              <a:solidFill>
                <a:srgbClr val="B9C4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9C4CC"/>
              </a:solidFill>
              <a:ln w="9525" cap="flat">
                <a:solidFill>
                  <a:srgbClr val="B9C4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5.15</c:v>
                </c:pt>
                <c:pt idx="2">
                  <c:v>5.3</c:v>
                </c:pt>
                <c:pt idx="3">
                  <c:v>5.45</c:v>
                </c:pt>
                <c:pt idx="4">
                  <c:v>5.6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Converged fit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0.4</c:v>
                </c:pt>
                <c:pt idx="1">
                  <c:v>2.9</c:v>
                </c:pt>
                <c:pt idx="2">
                  <c:v>5.4</c:v>
                </c:pt>
                <c:pt idx="3">
                  <c:v>7.9</c:v>
                </c:pt>
                <c:pt idx="4">
                  <c:v>10.4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CADCFC"/>
            </a:solidFill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12.4</c:v>
                </c:pt>
                <c:pt idx="1">
                  <c:v>8.1</c:v>
                </c:pt>
                <c:pt idx="2">
                  <c:v>5.3</c:v>
                </c:pt>
                <c:pt idx="3">
                  <c:v>3.5</c:v>
                </c:pt>
                <c:pt idx="4">
                  <c:v>2.3</c:v>
                </c:pt>
                <c:pt idx="5">
                  <c:v>1.5</c:v>
                </c:pt>
                <c:pt idx="6">
                  <c:v>1</c:v>
                </c:pt>
                <c:pt idx="7">
                  <c:v>0.66</c:v>
                </c:pt>
                <c:pt idx="8">
                  <c:v>0.44</c:v>
                </c:pt>
                <c:pt idx="9">
                  <c:v>0.29</c:v>
                </c:pt>
                <c:pt idx="10">
                  <c:v>0.19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C4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291840"/>
            <a:ext cx="4754880" cy="475488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3794760"/>
            <a:ext cx="3749040" cy="3749040"/>
          </a:xfrm>
          <a:prstGeom prst="ellipse">
            <a:avLst/>
          </a:prstGeom>
          <a:ln w="15875">
            <a:solidFill>
              <a:srgbClr val="CADCFC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4297680"/>
            <a:ext cx="2743200" cy="2743200"/>
          </a:xfrm>
          <a:prstGeom prst="ellipse">
            <a:avLst/>
          </a:prstGeom>
          <a:ln w="15875">
            <a:solidFill>
              <a:srgbClr val="1C7293">
                <a:alpha val="8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8360" y="4800600"/>
            <a:ext cx="1737360" cy="1737360"/>
          </a:xfrm>
          <a:prstGeom prst="ellipse">
            <a:avLst/>
          </a:prstGeom>
          <a:ln w="15875">
            <a:solidFill>
              <a:srgbClr val="CADCFC">
                <a:alpha val="7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5303520"/>
            <a:ext cx="731520" cy="731520"/>
          </a:xfrm>
          <a:prstGeom prst="ellipse">
            <a:avLst/>
          </a:prstGeom>
          <a:ln w="15875">
            <a:solidFill>
              <a:srgbClr val="1C7293">
                <a:alpha val="6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24744" y="5586984"/>
            <a:ext cx="164592" cy="16459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965960"/>
            <a:ext cx="8961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Techniques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Machine Learning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models learn: cost functions, gradients, gradient descent, and the path to convergence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0058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Akash 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Optimization in Machine Learning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the engine that lets a machine learning model learn from data. It is the process of adjusting a model's internal parameters so that its predictions get progressively closer to the true outcomes.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00837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starts wrong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parameters (weights) are random, so early predictions are far from correct.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9684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guides improvement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97280" y="42976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function measures how wrong the model is on the training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92861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closes the gap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5257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like Gradient Descent iteratively update parameters to reduce that error.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1554480"/>
            <a:ext cx="5074920" cy="4572000"/>
          </a:xfrm>
          <a:prstGeom prst="roundRect">
            <a:avLst>
              <a:gd name="adj" fmla="val 2400"/>
            </a:avLst>
          </a:prstGeom>
          <a:solidFill>
            <a:srgbClr val="F4F8F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Loop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0" y="23317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06640" y="23134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makes a prediction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40880" y="2697480"/>
            <a:ext cx="0" cy="38404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858000" y="311810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06640" y="309981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 measures error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40880" y="3483864"/>
            <a:ext cx="0" cy="38404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858000" y="390448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3886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shows direction of steepest error increase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040880" y="4270248"/>
            <a:ext cx="0" cy="38404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858000" y="46908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06640" y="46725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updates parameters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040880" y="5056632"/>
            <a:ext cx="0" cy="38404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858000" y="547725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06640" y="54589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error is minimized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COST FUNCTION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Cost Function?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function (also called a loss function) is a mathematical formula that quantifies the difference between a model's predicted values and the actual target values. It converts model performance into a single number to minimize.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669280" cy="3063240"/>
          </a:xfrm>
          <a:prstGeom prst="roundRect">
            <a:avLst>
              <a:gd name="adj" fmla="val 2985"/>
            </a:avLst>
          </a:prstGeom>
          <a:solidFill>
            <a:srgbClr val="F4F8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735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a Cost Function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38679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7216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how far predictions are from actual values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885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single scalar target for the optimizer to minimize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500176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8554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parameter updates via its gradient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56869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4223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compare different models or parameter settings objectively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537960" y="1600200"/>
          <a:ext cx="5074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8942832" y="4526280"/>
            <a:ext cx="146304" cy="146304"/>
          </a:xfrm>
          <a:prstGeom prst="ellipse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4754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(best-fit parameter)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37960" y="5166360"/>
            <a:ext cx="507492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</p:spPr>
      </p:sp>
      <p:sp>
        <p:nvSpPr>
          <p:cNvPr id="19" name="Text 16"/>
          <p:cNvSpPr/>
          <p:nvPr/>
        </p:nvSpPr>
        <p:spPr>
          <a:xfrm>
            <a:off x="6812280" y="53035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training: find the parameter values that sit at the lowest point of this cost curve.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COST FUNCTION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Mean Squared Error (MSE)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is the most widely used cost function for regression problems. It averages the squared difference between each predicted value and its actual value — squaring keeps errors positive and penalizes large errors more heavily.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Formula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MSE = </a:t>
            </a:r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(1/n) </a:t>
            </a:r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(yᵢ − ŷᵢ)²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754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4754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data points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5212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5212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value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5669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5669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2697480"/>
            <a:ext cx="5623560" cy="3474720"/>
          </a:xfrm>
          <a:prstGeom prst="roundRect">
            <a:avLst>
              <a:gd name="adj" fmla="val 2632"/>
            </a:avLst>
          </a:prstGeom>
          <a:solidFill>
            <a:srgbClr val="F4F8FB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880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Mini-Example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291840"/>
          <a:ext cx="5074920" cy="128016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16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(y)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(ŷ)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263640" y="47091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(0.25 + 0.25 + 1.00) / 3 = 0.50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52578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MSE means predictions are, on average, closer to actual values.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GRADIENT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Gradient?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is a vector of partial derivatives — it points in the direction in which a function increases most steeply, and its magnitude tells us how steep that increase is. For a cost function, the gradient is calculated with respect to each model parameter.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129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∇J(θ) = </a:t>
            </a:r>
            <a:pPr indent="0" marL="0">
              <a:buNone/>
            </a:pPr>
            <a:r>
              <a:rPr lang="en-US" sz="19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 ∂J/∂θ₁, ∂J/∂θ₂, … , ∂J/∂θₙ ]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the Gradient in Optimization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504748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1032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the direction of steepest ascent on the cost surface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544982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31266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negative gives the direction of steepest descent — where to move to reduce cost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58521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71500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magnitude reflects how large a step to consider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625449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611733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of zero signals a flat point — a possible minimum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= Gradient</a:t>
            </a:r>
            <a:endParaRPr lang="en-US" sz="14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92240" y="2286000"/>
          <a:ext cx="4983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9509760" y="2743200"/>
            <a:ext cx="1737360" cy="105156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765792" y="3566160"/>
            <a:ext cx="146304" cy="146304"/>
          </a:xfrm>
          <a:prstGeom prst="ellipse">
            <a:avLst/>
          </a:prstGeom>
          <a:solidFill>
            <a:srgbClr val="B850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46920" y="4846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gradient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large step direction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Gradient Descent?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is an iterative optimization algorithm used to minimize a cost function. Starting from an initial (often random) set of parameters, it repeatedly moves the parameters in the direction opposite to the gradient — the direction of steepest decrease — until the cost is minimized.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Gradient Descent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F4F8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572000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model parameters, usually with small random values.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01568" y="329184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EAF1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0168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30168" y="4160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0168" y="4572000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cost function and its gradient at the current parameters.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329184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F4F8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83096" y="3520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096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83096" y="4160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83096" y="4572000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parameters a small distance opposite the gradient direction.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07424" y="3291840"/>
            <a:ext cx="2670048" cy="2926080"/>
          </a:xfrm>
          <a:prstGeom prst="roundRect">
            <a:avLst>
              <a:gd name="adj" fmla="val 3425"/>
            </a:avLst>
          </a:prstGeom>
          <a:solidFill>
            <a:srgbClr val="EAF1F6"/>
          </a:solidFill>
          <a:ln/>
        </p:spPr>
      </p:sp>
      <p:sp>
        <p:nvSpPr>
          <p:cNvPr id="22" name="Shape 20"/>
          <p:cNvSpPr/>
          <p:nvPr/>
        </p:nvSpPr>
        <p:spPr>
          <a:xfrm>
            <a:off x="9336024" y="3520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336024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36024" y="416052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36024" y="4572000"/>
            <a:ext cx="22128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until the cost stops decreasing meaningfully — convergence.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Process &amp; Formula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parameters θ (weights and bias) — often randomly or at zero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722376" y="1947672"/>
            <a:ext cx="0" cy="219456"/>
          </a:xfrm>
          <a:prstGeom prst="line">
            <a:avLst/>
          </a:prstGeom>
          <a:noFill/>
          <a:ln w="15875">
            <a:solidFill>
              <a:srgbClr val="C8D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6712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121408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learning rate α to control step size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22376" y="2514600"/>
            <a:ext cx="0" cy="219456"/>
          </a:xfrm>
          <a:prstGeom prst="line">
            <a:avLst/>
          </a:prstGeom>
          <a:noFill/>
          <a:ln w="15875">
            <a:solidFill>
              <a:srgbClr val="C8D6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34056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688336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predictions ŷ using current parameters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722376" y="3081528"/>
            <a:ext cx="0" cy="219456"/>
          </a:xfrm>
          <a:prstGeom prst="line">
            <a:avLst/>
          </a:prstGeom>
          <a:noFill/>
          <a:ln w="15875">
            <a:solidFill>
              <a:srgbClr val="C8D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00984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55264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cost J(θ) using the cost function (e.g. MSE)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722376" y="3648456"/>
            <a:ext cx="0" cy="219456"/>
          </a:xfrm>
          <a:prstGeom prst="line">
            <a:avLst/>
          </a:prstGeom>
          <a:noFill/>
          <a:ln w="15875">
            <a:solidFill>
              <a:srgbClr val="C8D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67912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822192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 ∇J(θ) of the cost with respect to each parameter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722376" y="4215384"/>
            <a:ext cx="0" cy="219456"/>
          </a:xfrm>
          <a:prstGeom prst="line">
            <a:avLst/>
          </a:prstGeom>
          <a:noFill/>
          <a:ln w="15875">
            <a:solidFill>
              <a:srgbClr val="C8D6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43484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38912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each parameter: move it opposite to the gradient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722376" y="4782312"/>
            <a:ext cx="0" cy="219456"/>
          </a:xfrm>
          <a:prstGeom prst="line">
            <a:avLst/>
          </a:prstGeom>
          <a:noFill/>
          <a:ln w="15875">
            <a:solidFill>
              <a:srgbClr val="C8D6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001768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001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956048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3–6 until the cost converges or a maximum iteration count is reached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400800" y="16002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Update Rule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75120" y="2148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:= </a:t>
            </a:r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α · ∇J(θ)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67512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parameter = old parameter − (learning rate × gradient)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0" y="38862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09651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98080" y="409651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parameter (weight/bias) being optimized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6675120" y="455371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98080" y="455371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— step size for each update</a:t>
            </a:r>
            <a:endParaRPr lang="en-US" sz="1170" dirty="0"/>
          </a:p>
        </p:txBody>
      </p:sp>
      <p:sp>
        <p:nvSpPr>
          <p:cNvPr id="40" name="Text 38"/>
          <p:cNvSpPr/>
          <p:nvPr/>
        </p:nvSpPr>
        <p:spPr>
          <a:xfrm>
            <a:off x="6675120" y="501091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∇J(θ)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498080" y="501091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of the cost function at current θ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6675120" y="546811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:=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498080" y="546811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θ is reassigned to the new value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LEARNING RATE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Learning Rate?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(α) is a hyperparameter that controls how large a step Gradient Descent takes at each iteration. It scales the gradient before it is subtracted from the current parameter values — making it one of the most important settings to tune.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4F8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Small α</a:t>
            </a:r>
            <a:endParaRPr lang="en-US" sz="15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3246120"/>
          <a:ext cx="48006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54864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very slow — many iterations are needed and training can be impractically time-consuming.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2651760"/>
            <a:ext cx="5257800" cy="3703320"/>
          </a:xfrm>
          <a:prstGeom prst="roundRect">
            <a:avLst>
              <a:gd name="adj" fmla="val 2469"/>
            </a:avLst>
          </a:prstGeom>
          <a:solidFill>
            <a:srgbClr val="F4F8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Large α</a:t>
            </a:r>
            <a:endParaRPr lang="en-US" sz="15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55080" y="3246120"/>
          <a:ext cx="48006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6400800" y="54864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overshoot the minimum, causing the cost to oscillate or diverge instead of settling down.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PARAMETER UPDATES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Model Parameters Are Updated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weight and bias in a model is nudged, one small step at a time, using the same rule: subtract the learning rate times the gradient of the cost with respect to that specific parameter.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71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:= w − α </a:t>
            </a:r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∂J/∂w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 := b − α </a:t>
            </a:r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∂J/∂b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454456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074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parameter has its own partial derivative — its own contribution to the total error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504748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1032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happen simultaneously, using values from before the update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555040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4132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repeated updates gradually steer the model toward lower cost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60020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4F8FB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Converging Over Iterations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286000"/>
          <a:ext cx="4709160" cy="1828800"/>
        </p:xfrm>
        <a:graphic>
          <a:graphicData uri="http://schemas.openxmlformats.org/drawingml/2006/table">
            <a:tbl>
              <a:tblPr/>
              <a:tblGrid>
                <a:gridCol w="1177290"/>
                <a:gridCol w="1177290"/>
                <a:gridCol w="1177290"/>
                <a:gridCol w="117729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629400" y="434340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iterations progress, w and b settle near their optimal values while cost keeps shrinking.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VARIANTS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Gradient Descent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4F8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Gradient Descent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86207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7157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entire training dataset for every update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822960" y="373075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844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smooth convergence path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22960" y="459943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531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on large datasets</a:t>
            </a:r>
            <a:endParaRPr lang="en-US" sz="118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822960" y="4846320"/>
          <a:ext cx="29718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29768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4F8FB"/>
          </a:solidFill>
          <a:ln/>
        </p:spPr>
      </p:sp>
      <p:sp>
        <p:nvSpPr>
          <p:cNvPr id="15" name="Shape 12"/>
          <p:cNvSpPr/>
          <p:nvPr/>
        </p:nvSpPr>
        <p:spPr>
          <a:xfrm>
            <a:off x="4297680" y="1691640"/>
            <a:ext cx="352044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0" y="1965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Gradient Descent (SGD)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0" y="28620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7157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single random sample per update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4572000" y="37307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35844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updates, can escape shallow local minima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4572000" y="459943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44531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less stable convergence path</a:t>
            </a:r>
            <a:endParaRPr lang="en-US" sz="118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572000" y="4846320"/>
          <a:ext cx="29718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804672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4F8FB"/>
          </a:solidFill>
          <a:ln/>
        </p:spPr>
      </p:sp>
      <p:sp>
        <p:nvSpPr>
          <p:cNvPr id="25" name="Shape 21"/>
          <p:cNvSpPr/>
          <p:nvPr/>
        </p:nvSpPr>
        <p:spPr>
          <a:xfrm>
            <a:off x="8046720" y="1691640"/>
            <a:ext cx="3520440" cy="109728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26" name="Text 22"/>
          <p:cNvSpPr/>
          <p:nvPr/>
        </p:nvSpPr>
        <p:spPr>
          <a:xfrm>
            <a:off x="8321040" y="19659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Mini-Batch Gradient Descent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321040" y="2862072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8" name="Text 24"/>
          <p:cNvSpPr/>
          <p:nvPr/>
        </p:nvSpPr>
        <p:spPr>
          <a:xfrm>
            <a:off x="8549640" y="27157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small batch (e.g. 32–256 samples)</a:t>
            </a:r>
            <a:endParaRPr lang="en-US" sz="1180" dirty="0"/>
          </a:p>
        </p:txBody>
      </p:sp>
      <p:sp>
        <p:nvSpPr>
          <p:cNvPr id="29" name="Shape 25"/>
          <p:cNvSpPr/>
          <p:nvPr/>
        </p:nvSpPr>
        <p:spPr>
          <a:xfrm>
            <a:off x="8321040" y="3730752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0" name="Text 26"/>
          <p:cNvSpPr/>
          <p:nvPr/>
        </p:nvSpPr>
        <p:spPr>
          <a:xfrm>
            <a:off x="8549640" y="35844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stability and computational speed</a:t>
            </a:r>
            <a:endParaRPr lang="en-US" sz="1180" dirty="0"/>
          </a:p>
        </p:txBody>
      </p:sp>
      <p:sp>
        <p:nvSpPr>
          <p:cNvPr id="31" name="Shape 27"/>
          <p:cNvSpPr/>
          <p:nvPr/>
        </p:nvSpPr>
        <p:spPr>
          <a:xfrm>
            <a:off x="8321040" y="4599432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Text 28"/>
          <p:cNvSpPr/>
          <p:nvPr/>
        </p:nvSpPr>
        <p:spPr>
          <a:xfrm>
            <a:off x="8549640" y="44531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choice in practice</a:t>
            </a:r>
            <a:endParaRPr lang="en-US" sz="1180" dirty="0"/>
          </a:p>
        </p:txBody>
      </p:sp>
      <p:graphicFrame>
        <p:nvGraphicFramePr>
          <p:cNvPr id="33" name="Chart 2" descr=""/>
          <p:cNvGraphicFramePr/>
          <p:nvPr/>
        </p:nvGraphicFramePr>
        <p:xfrm>
          <a:off x="8321040" y="4846320"/>
          <a:ext cx="29718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CONVERGENCE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and Local / Global Minima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reached when further updates no longer meaningfully reduce the cost. But not every low point on a cost surface is the best one available.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651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Minimum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9900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lower than all nearby points, but not the lowest point overall — gradient descent can get stuck here.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657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Minimum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9959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possible point across the entire cost surface — the true optimum being sought.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663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50017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where the cost function stabilizes and parameter updates become negligibly small.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Non-Convex Cost Landscape</a:t>
            </a:r>
            <a:endParaRPr lang="en-US" sz="14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0" y="2286000"/>
          <a:ext cx="5074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7936992" y="3977640"/>
            <a:ext cx="137160" cy="13716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400032" y="5212080"/>
            <a:ext cx="146304" cy="14630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0" y="5394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PRACTICAL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on Simple Linear Regression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line ŷ = wx + b to a small dataset by minimizing MSE with Gradient Descent. Each iteration adjusts w and b, and the fitted line steadily approaches the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4F8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Fitting the Regression Line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88036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63640" y="23317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Decreasing Over Iterations</a:t>
            </a:r>
            <a:endParaRPr lang="en-US" sz="14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537960" y="2926080"/>
          <a:ext cx="4800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Limitations of Gradient Descent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8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6791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3288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 and implement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54787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015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to models with millions of parameters (deep networks)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4165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2702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— works for nearly any differentiable cost function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528523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1389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variants (SGD, mini-batch, Adam) make it practical at scale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4F8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19202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19385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37960" y="26791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53288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get stuck in local minima or saddle points on non-convex surfaces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354787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4015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the choice of learning rate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441655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2702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converge slowly on ill-conditioned or very large datasets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528523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1389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cost function to be differentiable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Neural Networks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image, speech, and generative models by minimizing loss across millions of parameters.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53712" y="19933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3712" y="260604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Recommender Systems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3712" y="29718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user/item embeddings that minimize prediction error on ratings or clicks.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2752" y="199339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02752" y="260604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297180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language models for tasks like translation, summarization, and chatbots.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1879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4672" y="480060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16636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convolutional networks for object detection, classification, and segmentation.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3712" y="41879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53712" y="480060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Forecasting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516636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regression and time-series models to minimize forecasting error.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02752" y="418795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02752" y="480060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&amp; Control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02752" y="5166360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control policies by minimizing cost functions over trajectories.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82880"/>
            <a:ext cx="2011680" cy="2011680"/>
          </a:xfrm>
          <a:prstGeom prst="ellipse">
            <a:avLst/>
          </a:prstGeom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182880"/>
            <a:ext cx="1280160" cy="1280160"/>
          </a:xfrm>
          <a:prstGeom prst="ellipse">
            <a:avLst/>
          </a:prstGeom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502920"/>
            <a:ext cx="640080" cy="640080"/>
          </a:xfrm>
          <a:prstGeom prst="ellipse">
            <a:avLst/>
          </a:prstGeom>
          <a:ln w="1270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Is the Heart of Learning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functions turn model error into a single number worth minimizing.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0720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point the way; Gradient Descent follows them, step by step.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73989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5701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and batch strategy govern how fast and how reliably a model converges.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48970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0682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linear regression to deep neural networks, this same core loop — predict, measure, differentiate, update — powers virtually all of modern machine learning.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058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2026-09-10T09:29:30Z</dcterms:created>
  <dcterms:modified xsi:type="dcterms:W3CDTF">2026-09-10T09:29:30Z</dcterms:modified>
</cp:coreProperties>
</file>